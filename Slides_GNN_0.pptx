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5.gif" ContentType="image/gif"/>
  <Override PartName="/ppt/media/image3.png" ContentType="image/png"/>
  <Override PartName="/ppt/media/image4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8B4F31-0A8E-4036-AFEC-F8B92C6C1AD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A9712B-BD4C-4B16-9B00-EF3DE2329E8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78E1CB-36A2-4E53-A19C-EB1B9612C50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B5F06A-5B37-4110-8800-CA327A4CABC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8C94B0-80A1-4A61-9407-7FF6A68C1B0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9ED8F7-4564-4A81-A275-A919467F9E5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3521ED-E7B0-4743-A186-56E92BAD656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3DD93E-A735-494A-A490-466C874078D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F87604-9E0C-4E8E-9DF1-F0F2303F730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D7A4E5-3D8E-40DC-996B-9C5AE62337A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DACB4E-B4DF-4165-870A-B54039A30FC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gif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268560" y="180000"/>
            <a:ext cx="11854440" cy="59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itle 2"/>
          <p:cNvSpPr txBox="1"/>
          <p:nvPr/>
        </p:nvSpPr>
        <p:spPr>
          <a:xfrm>
            <a:off x="3830760" y="5688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David Emmanuel Pazmiño P.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9" name="" descr=""/>
          <p:cNvPicPr/>
          <p:nvPr/>
        </p:nvPicPr>
        <p:blipFill>
          <a:blip r:embed="rId2"/>
          <a:stretch/>
        </p:blipFill>
        <p:spPr>
          <a:xfrm>
            <a:off x="5064840" y="193320"/>
            <a:ext cx="2315160" cy="178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3"/>
          <a:stretch/>
        </p:blipFill>
        <p:spPr>
          <a:xfrm>
            <a:off x="7380000" y="146880"/>
            <a:ext cx="2453760" cy="183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" descr=""/>
          <p:cNvPicPr/>
          <p:nvPr/>
        </p:nvPicPr>
        <p:blipFill>
          <a:blip r:embed="rId4"/>
          <a:stretch/>
        </p:blipFill>
        <p:spPr>
          <a:xfrm>
            <a:off x="9833760" y="180000"/>
            <a:ext cx="2031120" cy="1874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Temario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2608200"/>
            <a:ext cx="9802800" cy="214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Clase 1 — Redes Neuronales, Grafos  y Estructuras Relacionales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Clase 2 — Transmisión de mensajes y Capas convolucionales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Clase 0 — Aplicación (casi) real a una red de transporte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" dur="10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10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10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" dur="10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10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10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3" dur="10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Redes neuronales usuales y grafos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NN Estándar: datos usualmente representados en tablas.  Registros: Datos, Columnas: Características (features)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Aprendizaje basado en actualizar los pesos por capas.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Minimizar función de costo/pérdida por descenso de gradiente y propagación hacia atrás.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¿Y la información dada por la estructura del grafo?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itle 3"/>
          <p:cNvSpPr txBox="1"/>
          <p:nvPr/>
        </p:nvSpPr>
        <p:spPr>
          <a:xfrm>
            <a:off x="3830760" y="5940000"/>
            <a:ext cx="8229240" cy="918000"/>
          </a:xfrm>
          <a:prstGeom prst="rect">
            <a:avLst/>
          </a:prstGeom>
          <a:noFill/>
          <a:ln w="0">
            <a:noFill/>
          </a:ln>
        </p:spPr>
        <p:txBody>
          <a:bodyPr anchor="ctr" anchorCtr="1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Imagen: https://pub.aimind.so/backpropagation-90736abaf1ca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7740000" y="3812400"/>
            <a:ext cx="3780000" cy="212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" dur="indefinite" restart="never" nodeType="tmRoot">
          <p:childTnLst>
            <p:seq>
              <p:cTn id="25" dur="indefinite" nodeType="mainSeq">
                <p:childTnLst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" dur="10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1000" fill="hold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1000" fill="hold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9" dur="10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" dur="1000" fill="hold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" dur="1000" fill="hold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6" dur="10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" dur="1000" fill="hold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" dur="1000" fill="hold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3" dur="10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Revisión de grafos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Grafo: G = (V, E): nodos V, aristas 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Cada nodo puede tener atributos: xᵥ.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Aristas representan conexiones, flujos, enlaces químicos, etc.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Grafos son irregulares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nodos distintos tienen diferente grado. (Posible nuevo atributo ¿?)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El modelo debe ser “inmune” a reordenar/reetiquetar los vértices.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8953560" y="4506840"/>
            <a:ext cx="3238200" cy="53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" dur="indefinite" restart="never" nodeType="tmRoot">
          <p:childTnLst>
            <p:seq>
              <p:cTn id="59" dur="indefinite" nodeType="mainSeq">
                <p:childTnLst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4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6" dur="10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" dur="1000" fill="hold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" dur="1000" fill="hold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3" dur="10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8" dur="1000" fill="hold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9" dur="1000" fill="hold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0" dur="10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5" dur="1000" fill="hold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" dur="1000" fill="hold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7" dur="1000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2" dur="1000" fill="hold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" dur="1000" fill="hold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4" dur="1000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Idea principal de GNN: 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Transmisión de mensaje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46280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La información de los vecinos puede ser importante.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AGREGAR: Obtener UN valor dado por todos los vecinos.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ACTUALIZAR: Combinar la información del nodo con la de sus vecinos.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Varias capas → usar la información de “vecinos de los vecinos...”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 de una capa: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hᵥ⁽ˡ⁺¹⁾ = σ(W</a:t>
            </a:r>
            <a:r>
              <a:rPr b="0" lang="en-US" sz="2400" strike="noStrike" u="none" baseline="-8000">
                <a:solidFill>
                  <a:schemeClr val="dk1"/>
                </a:solidFill>
                <a:effectLst/>
                <a:uFillTx/>
                <a:latin typeface="Calibri"/>
              </a:rPr>
              <a:t>self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hᵥ⁽ˡ⁾ + W</a:t>
            </a:r>
            <a:r>
              <a:rPr b="0" lang="en-US" sz="2400" strike="noStrike" u="none" baseline="-8000">
                <a:solidFill>
                  <a:schemeClr val="dk1"/>
                </a:solidFill>
                <a:effectLst/>
                <a:uFillTx/>
                <a:latin typeface="Calibri"/>
              </a:rPr>
              <a:t>neigh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AGG{hᵤ⁽ˡ⁾ : u ∈ N(v)}).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8106840" y="1487160"/>
            <a:ext cx="4084920" cy="373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5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07" dur="10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2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4" dur="10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9" dur="10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0" dur="10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21" dur="10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6" dur="10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7" dur="10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28" dur="10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3" dur="1000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4" dur="1000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35" dur="10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0" dur="1000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1" dur="1000" fill="hold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42" dur="1000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GNN vs  AI/ML Estándar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ML tabular: Las relaciones son olvidadas.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CNN: Funciona en grillas regulares. Explota la traslación local. (Útil en imágenes)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RNN/Transformadores: explota el orden o los patrones de “atención”.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GNN: usa la topología (conectividad) del grafo y atributos de nodos y/o aristas.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Tareas usuales de GNN: clasificación de nodos, clasificación de grafos, predicción de conexiones.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7" dur="indefinite" restart="never" nodeType="tmRoot">
          <p:childTnLst>
            <p:seq>
              <p:cTn id="148" dur="indefinite" nodeType="mainSeq">
                <p:childTnLst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3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4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55" dur="10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0" dur="10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1" dur="10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2" dur="10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7" dur="10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8" dur="10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69" dur="10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4" dur="1000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5" dur="1000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76" dur="1000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1" dur="1000" fill="hold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2" dur="1000" fill="hold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83" dur="1000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en-CA</dc:language>
  <cp:lastModifiedBy/>
  <dcterms:modified xsi:type="dcterms:W3CDTF">2026-10-16T18:56:24Z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